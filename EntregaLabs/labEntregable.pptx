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60" r:id="rId4"/>
    <p:sldId id="263" r:id="rId5"/>
    <p:sldId id="259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DDA4668E-C157-4163-8DD3-DF1D29F1F915}" type="datetimeFigureOut">
              <a:rPr lang="es-CL" smtClean="0"/>
              <a:t>26-08-2026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D839BB90-A7A4-47CC-A787-6CEC21B7F2D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82344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4668E-C157-4163-8DD3-DF1D29F1F915}" type="datetimeFigureOut">
              <a:rPr lang="es-CL" smtClean="0"/>
              <a:t>26-08-2026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9BB90-A7A4-47CC-A787-6CEC21B7F2D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29185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DA4668E-C157-4163-8DD3-DF1D29F1F915}" type="datetimeFigureOut">
              <a:rPr lang="es-CL" smtClean="0"/>
              <a:t>26-08-2026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839BB90-A7A4-47CC-A787-6CEC21B7F2D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12920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4668E-C157-4163-8DD3-DF1D29F1F915}" type="datetimeFigureOut">
              <a:rPr lang="es-CL" smtClean="0"/>
              <a:t>26-08-2026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9BB90-A7A4-47CC-A787-6CEC21B7F2D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44737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4668E-C157-4163-8DD3-DF1D29F1F915}" type="datetimeFigureOut">
              <a:rPr lang="es-CL" smtClean="0"/>
              <a:t>26-08-2026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9BB90-A7A4-47CC-A787-6CEC21B7F2D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0164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4668E-C157-4163-8DD3-DF1D29F1F915}" type="datetimeFigureOut">
              <a:rPr lang="es-CL" smtClean="0"/>
              <a:t>26-08-2026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9BB90-A7A4-47CC-A787-6CEC21B7F2D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5427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4668E-C157-4163-8DD3-DF1D29F1F915}" type="datetimeFigureOut">
              <a:rPr lang="es-CL" smtClean="0"/>
              <a:t>26-08-2026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9BB90-A7A4-47CC-A787-6CEC21B7F2D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96233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4668E-C157-4163-8DD3-DF1D29F1F915}" type="datetimeFigureOut">
              <a:rPr lang="es-CL" smtClean="0"/>
              <a:t>26-08-2026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9BB90-A7A4-47CC-A787-6CEC21B7F2D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34643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4668E-C157-4163-8DD3-DF1D29F1F915}" type="datetimeFigureOut">
              <a:rPr lang="es-CL" smtClean="0"/>
              <a:t>26-08-2026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9BB90-A7A4-47CC-A787-6CEC21B7F2D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155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4668E-C157-4163-8DD3-DF1D29F1F915}" type="datetimeFigureOut">
              <a:rPr lang="es-CL" smtClean="0"/>
              <a:t>26-08-2026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9BB90-A7A4-47CC-A787-6CEC21B7F2D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75691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DA4668E-C157-4163-8DD3-DF1D29F1F915}" type="datetimeFigureOut">
              <a:rPr lang="es-CL" smtClean="0"/>
              <a:t>26-08-2026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839BB90-A7A4-47CC-A787-6CEC21B7F2D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892279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DA4668E-C157-4163-8DD3-DF1D29F1F915}" type="datetimeFigureOut">
              <a:rPr lang="es-CL" smtClean="0"/>
              <a:t>26-08-2026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839BB90-A7A4-47CC-A787-6CEC21B7F2D4}" type="slidenum">
              <a:rPr lang="es-CL" smtClean="0"/>
              <a:t>‹Nº›</a:t>
            </a:fld>
            <a:endParaRPr lang="es-CL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476709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DA4668E-C157-4163-8DD3-DF1D29F1F915}" type="datetimeFigureOut">
              <a:rPr lang="es-CL" smtClean="0"/>
              <a:t>26-08-2026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839BB90-A7A4-47CC-A787-6CEC21B7F2D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13273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4668E-C157-4163-8DD3-DF1D29F1F915}" type="datetimeFigureOut">
              <a:rPr lang="es-CL" smtClean="0"/>
              <a:t>26-08-2026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9BB90-A7A4-47CC-A787-6CEC21B7F2D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624007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4668E-C157-4163-8DD3-DF1D29F1F915}" type="datetimeFigureOut">
              <a:rPr lang="es-CL" smtClean="0"/>
              <a:t>26-08-2026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9BB90-A7A4-47CC-A787-6CEC21B7F2D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15540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4668E-C157-4163-8DD3-DF1D29F1F915}" type="datetimeFigureOut">
              <a:rPr lang="es-CL" smtClean="0"/>
              <a:t>26-08-2026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9BB90-A7A4-47CC-A787-6CEC21B7F2D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007894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DA4668E-C157-4163-8DD3-DF1D29F1F915}" type="datetimeFigureOut">
              <a:rPr lang="es-CL" smtClean="0"/>
              <a:t>26-08-2026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839BB90-A7A4-47CC-A787-6CEC21B7F2D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36034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A4668E-C157-4163-8DD3-DF1D29F1F915}" type="datetimeFigureOut">
              <a:rPr lang="es-CL" smtClean="0"/>
              <a:t>26-08-2026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39BB90-A7A4-47CC-A787-6CEC21B7F2D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6408466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8EE33B-4FF8-9F92-ED4E-C49BA4EC32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598" y="1684802"/>
            <a:ext cx="9448800" cy="1004554"/>
          </a:xfrm>
        </p:spPr>
        <p:txBody>
          <a:bodyPr/>
          <a:lstStyle/>
          <a:p>
            <a:pPr algn="ctr"/>
            <a:r>
              <a:rPr lang="es-CL" dirty="0">
                <a:latin typeface="Candara Light" panose="020E0502030303020204" pitchFamily="34" charset="0"/>
              </a:rPr>
              <a:t>Laboratorio de DBII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7C7D3C3-55DB-D9AF-CF3B-C339D17DBA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0747" y="3429000"/>
            <a:ext cx="10890504" cy="2074854"/>
          </a:xfrm>
        </p:spPr>
        <p:txBody>
          <a:bodyPr>
            <a:normAutofit/>
          </a:bodyPr>
          <a:lstStyle/>
          <a:p>
            <a:pPr algn="ctr"/>
            <a:r>
              <a:rPr lang="es-CL" dirty="0">
                <a:latin typeface="Candara Light" panose="020E0502030303020204" pitchFamily="34" charset="0"/>
              </a:rPr>
              <a:t>Ignacio Ampuero ‐ Adrián Mancilla - Engel Falcon - José Véliz - Benjamín Astorga</a:t>
            </a:r>
          </a:p>
        </p:txBody>
      </p:sp>
      <p:pic>
        <p:nvPicPr>
          <p:cNvPr id="7" name="Imagen 6" descr="Archivo:Universidad-autonoma-de-chile.png - Wikipedia, la ...">
            <a:extLst>
              <a:ext uri="{FF2B5EF4-FFF2-40B4-BE49-F238E27FC236}">
                <a16:creationId xmlns:a16="http://schemas.microsoft.com/office/drawing/2014/main" id="{71717ABC-2E83-1314-1D44-68A68AEA4E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78" y="112326"/>
            <a:ext cx="1457018" cy="620980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569B35F5-12E7-6465-D6A9-50EF5F2C1EA6}"/>
              </a:ext>
            </a:extLst>
          </p:cNvPr>
          <p:cNvSpPr txBox="1"/>
          <p:nvPr/>
        </p:nvSpPr>
        <p:spPr>
          <a:xfrm>
            <a:off x="5102778" y="2802534"/>
            <a:ext cx="19864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000" dirty="0">
                <a:latin typeface="Candara Light" panose="020E0502030303020204" pitchFamily="34" charset="0"/>
              </a:rPr>
              <a:t>The Jackson 5QL</a:t>
            </a:r>
          </a:p>
        </p:txBody>
      </p:sp>
    </p:spTree>
    <p:extLst>
      <p:ext uri="{BB962C8B-B14F-4D97-AF65-F5344CB8AC3E}">
        <p14:creationId xmlns:p14="http://schemas.microsoft.com/office/powerpoint/2010/main" val="11650761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C71A5E-39AC-7677-E09F-F780888BA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/>
          <a:lstStyle/>
          <a:p>
            <a:pPr algn="ctr"/>
            <a:r>
              <a:rPr lang="es-CL" dirty="0">
                <a:latin typeface="Candara Light" panose="020E0502030303020204" pitchFamily="34" charset="0"/>
              </a:rPr>
              <a:t>Creación Base de Datos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DB4541A-D6EA-163F-C172-5859A788340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s-CL" dirty="0">
                <a:latin typeface="Candara Light" panose="020E0502030303020204" pitchFamily="34" charset="0"/>
              </a:rPr>
              <a:t>Se implementaron 13 Tablas en total que cumplen las reglas del negocio: </a:t>
            </a:r>
          </a:p>
          <a:p>
            <a:pPr algn="just"/>
            <a:r>
              <a:rPr lang="es-CL" dirty="0">
                <a:latin typeface="Candara Light" panose="020E0502030303020204" pitchFamily="34" charset="0"/>
              </a:rPr>
              <a:t>Un cliente puede generar múltiples ordenes.</a:t>
            </a:r>
          </a:p>
          <a:p>
            <a:pPr algn="just"/>
            <a:r>
              <a:rPr lang="es-CL" dirty="0">
                <a:latin typeface="Candara Light" panose="020E0502030303020204" pitchFamily="34" charset="0"/>
              </a:rPr>
              <a:t>Cada orden debe tener al menos un producto asociado</a:t>
            </a:r>
          </a:p>
          <a:p>
            <a:pPr algn="just"/>
            <a:r>
              <a:rPr lang="es-CL" dirty="0">
                <a:latin typeface="Candara Light" panose="020E0502030303020204" pitchFamily="34" charset="0"/>
              </a:rPr>
              <a:t>Un producto debe tener al menos un producto asociado.</a:t>
            </a:r>
          </a:p>
          <a:p>
            <a:pPr algn="just"/>
            <a:r>
              <a:rPr lang="es-CL" dirty="0">
                <a:latin typeface="Candara Light" panose="020E0502030303020204" pitchFamily="34" charset="0"/>
              </a:rPr>
              <a:t>Un producto pertenece a una única categoría, pero puede tener múltiples proveedores.</a:t>
            </a:r>
          </a:p>
          <a:p>
            <a:pPr algn="just"/>
            <a:r>
              <a:rPr lang="es-CL" dirty="0">
                <a:latin typeface="Candara Light" panose="020E0502030303020204" pitchFamily="34" charset="0"/>
              </a:rPr>
              <a:t>El inventario debe registrarse por producto y ubicación dentro de bodega. 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A775237-0C55-7D1D-2137-A0A0B813B86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s-CL" dirty="0">
                <a:latin typeface="Candara Light" panose="020E0502030303020204" pitchFamily="34" charset="0"/>
              </a:rPr>
              <a:t>Un envió está asociado a una orden y a un transportista. </a:t>
            </a:r>
          </a:p>
          <a:p>
            <a:pPr algn="just"/>
            <a:r>
              <a:rPr lang="es-CL" dirty="0">
                <a:latin typeface="Candara Light" panose="020E0502030303020204" pitchFamily="34" charset="0"/>
              </a:rPr>
              <a:t>Un empleado puede gestionar múltiples envíos.</a:t>
            </a:r>
          </a:p>
          <a:p>
            <a:pPr algn="just"/>
            <a:r>
              <a:rPr lang="es-CL" dirty="0">
                <a:latin typeface="Candara Light" panose="020E0502030303020204" pitchFamily="34" charset="0"/>
              </a:rPr>
              <a:t>El stock no puede ser negativo.</a:t>
            </a:r>
          </a:p>
          <a:p>
            <a:pPr algn="just"/>
            <a:r>
              <a:rPr lang="es-CL" dirty="0">
                <a:latin typeface="Candara Light" panose="020E0502030303020204" pitchFamily="34" charset="0"/>
              </a:rPr>
              <a:t>Cada bodega tiene múltiples ubicaciones. </a:t>
            </a:r>
          </a:p>
        </p:txBody>
      </p:sp>
      <p:pic>
        <p:nvPicPr>
          <p:cNvPr id="6" name="Imagen 5" descr="Archivo:Universidad-autonoma-de-chile.png - Wikipedia, la ...">
            <a:extLst>
              <a:ext uri="{FF2B5EF4-FFF2-40B4-BE49-F238E27FC236}">
                <a16:creationId xmlns:a16="http://schemas.microsoft.com/office/drawing/2014/main" id="{B8FFC09C-06B9-49CE-A48E-9BE4352C6C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78" y="112326"/>
            <a:ext cx="1457018" cy="620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975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CC0B94-746D-0AFB-A5B5-B04270A61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/>
          <a:lstStyle/>
          <a:p>
            <a:pPr algn="ctr"/>
            <a:r>
              <a:rPr lang="es-CL" dirty="0">
                <a:latin typeface="Candara Light" panose="020E0502030303020204" pitchFamily="34" charset="0"/>
              </a:rPr>
              <a:t>Análisis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C18700-2B37-BC34-FA5B-D7C8FA536EF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s-CL" dirty="0">
                <a:latin typeface="Candara Light" panose="020E0502030303020204" pitchFamily="34" charset="0"/>
              </a:rPr>
              <a:t>Posterior al planteamiento de las reglas de negocio se determinó, qué las 13 tablas en 3FN con integridad referencial completa.</a:t>
            </a:r>
          </a:p>
          <a:p>
            <a:pPr algn="just"/>
            <a:r>
              <a:rPr lang="es-CL" dirty="0">
                <a:latin typeface="Candara Light" panose="020E0502030303020204" pitchFamily="34" charset="0"/>
              </a:rPr>
              <a:t>2 relaciones N:N </a:t>
            </a:r>
          </a:p>
          <a:p>
            <a:pPr lvl="1" algn="just"/>
            <a:r>
              <a:rPr lang="es-CL" dirty="0" err="1">
                <a:latin typeface="Candara Light" panose="020E0502030303020204" pitchFamily="34" charset="0"/>
              </a:rPr>
              <a:t>Producto:Proveedor</a:t>
            </a:r>
            <a:r>
              <a:rPr lang="es-CL" dirty="0">
                <a:latin typeface="Candara Light" panose="020E0502030303020204" pitchFamily="34" charset="0"/>
              </a:rPr>
              <a:t> y </a:t>
            </a:r>
            <a:r>
              <a:rPr lang="es-CL" dirty="0" err="1">
                <a:latin typeface="Candara Light" panose="020E0502030303020204" pitchFamily="34" charset="0"/>
              </a:rPr>
              <a:t>Orden:Producto</a:t>
            </a:r>
            <a:endParaRPr lang="es-CL" dirty="0">
              <a:latin typeface="Candara Light" panose="020E0502030303020204" pitchFamily="34" charset="0"/>
            </a:endParaRPr>
          </a:p>
          <a:p>
            <a:pPr marL="457200" lvl="1" indent="0" algn="just">
              <a:buNone/>
            </a:pPr>
            <a:r>
              <a:rPr lang="es-CL" dirty="0">
                <a:latin typeface="Candara Light" panose="020E0502030303020204" pitchFamily="34" charset="0"/>
              </a:rPr>
              <a:t>Resueltas con tablas intermedias que almacenan atributos propios. </a:t>
            </a:r>
          </a:p>
          <a:p>
            <a:pPr marL="457200" lvl="1" indent="0" algn="just">
              <a:buNone/>
            </a:pPr>
            <a:r>
              <a:rPr lang="es-CL" dirty="0">
                <a:latin typeface="Candara Light" panose="020E0502030303020204" pitchFamily="34" charset="0"/>
              </a:rPr>
              <a:t>En el ejemplo, se muestra como resultado algunas columnas variadas (SKU, nombres, costos, días), proviene de 4 tablas conectadas. </a:t>
            </a:r>
          </a:p>
          <a:p>
            <a:pPr algn="just"/>
            <a:endParaRPr lang="es-CL" dirty="0">
              <a:latin typeface="Candara Light" panose="020E0502030303020204" pitchFamily="34" charset="0"/>
            </a:endParaRPr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DEFF7EBE-0C1A-2FB2-33E0-E699750A2D3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1911576"/>
            <a:ext cx="5334000" cy="127431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1DA09A5D-18AE-AE30-7572-91B0CBC3865F}"/>
              </a:ext>
            </a:extLst>
          </p:cNvPr>
          <p:cNvSpPr txBox="1"/>
          <p:nvPr/>
        </p:nvSpPr>
        <p:spPr>
          <a:xfrm>
            <a:off x="6653345" y="3223654"/>
            <a:ext cx="43717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200" dirty="0">
                <a:latin typeface="Candara Light" panose="020E0502030303020204" pitchFamily="34" charset="0"/>
              </a:rPr>
              <a:t>Fig 1. Ejemplo del uso de la Tabla Intermedia </a:t>
            </a:r>
            <a:r>
              <a:rPr lang="es-CL" sz="1200" dirty="0" err="1">
                <a:latin typeface="Candara Light" panose="020E0502030303020204" pitchFamily="34" charset="0"/>
              </a:rPr>
              <a:t>producto_proveedor</a:t>
            </a:r>
            <a:r>
              <a:rPr lang="es-CL" sz="1200" dirty="0">
                <a:latin typeface="Candara Light" panose="020E0502030303020204" pitchFamily="34" charset="0"/>
              </a:rPr>
              <a:t>.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FB0B70D-6A47-40EE-53EA-75A481D1D5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4587" y="3500653"/>
            <a:ext cx="5229225" cy="2876074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55053F8A-DA22-8429-5824-F5964FB53F43}"/>
              </a:ext>
            </a:extLst>
          </p:cNvPr>
          <p:cNvSpPr txBox="1"/>
          <p:nvPr/>
        </p:nvSpPr>
        <p:spPr>
          <a:xfrm>
            <a:off x="7840367" y="6414495"/>
            <a:ext cx="27414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200" dirty="0">
                <a:latin typeface="Candara Light" panose="020E0502030303020204" pitchFamily="34" charset="0"/>
              </a:rPr>
              <a:t>Fig 2. Resultados del código de </a:t>
            </a:r>
            <a:r>
              <a:rPr lang="es-CL" sz="1200" dirty="0" err="1">
                <a:latin typeface="Candara Light" panose="020E0502030303020204" pitchFamily="34" charset="0"/>
              </a:rPr>
              <a:t>ejempllo</a:t>
            </a:r>
            <a:endParaRPr lang="es-CL" sz="1200" dirty="0">
              <a:latin typeface="Candara Light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3422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7911C4-341F-12F5-8280-0F57830C3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/>
          <a:lstStyle/>
          <a:p>
            <a:pPr algn="ctr"/>
            <a:r>
              <a:rPr lang="es-CL" dirty="0">
                <a:latin typeface="Candara Light" panose="020E0502030303020204" pitchFamily="34" charset="0"/>
              </a:rPr>
              <a:t>Análisis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0AF3704-9A98-A8A1-1078-A5B892B815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1800225"/>
            <a:ext cx="5334000" cy="4418459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s-CL" dirty="0">
                <a:latin typeface="Candara Light" panose="020E0502030303020204" pitchFamily="34" charset="0"/>
              </a:rPr>
              <a:t>¿Por qué usamos SKU?</a:t>
            </a:r>
          </a:p>
          <a:p>
            <a:pPr marL="0" indent="0" algn="just">
              <a:buNone/>
            </a:pPr>
            <a:r>
              <a:rPr lang="es-CL" dirty="0">
                <a:latin typeface="Candara Light" panose="020E0502030303020204" pitchFamily="34" charset="0"/>
              </a:rPr>
              <a:t>Para identificar por producto, algo así como el código de barras, rastreo sin nombre, o un valor serial que podría repetirse.</a:t>
            </a:r>
          </a:p>
          <a:p>
            <a:pPr marL="0" indent="0" algn="just">
              <a:buNone/>
            </a:pPr>
            <a:endParaRPr lang="es-CL" dirty="0">
              <a:latin typeface="Candara Light" panose="020E0502030303020204" pitchFamily="34" charset="0"/>
            </a:endParaRPr>
          </a:p>
          <a:p>
            <a:pPr marL="0" indent="0" algn="just">
              <a:buNone/>
            </a:pPr>
            <a:r>
              <a:rPr lang="es-CL" dirty="0">
                <a:latin typeface="Candara Light" panose="020E0502030303020204" pitchFamily="34" charset="0"/>
              </a:rPr>
              <a:t>¿Stock Vs. Stock mínimo?</a:t>
            </a:r>
          </a:p>
          <a:p>
            <a:pPr marL="0" indent="0" algn="just">
              <a:buNone/>
            </a:pPr>
            <a:r>
              <a:rPr lang="es-CL" dirty="0">
                <a:latin typeface="Candara Light" panose="020E0502030303020204" pitchFamily="34" charset="0"/>
              </a:rPr>
              <a:t>El stock es la cantidad real disponible en una ubicación, mientras que el s. mínimo es el umbral de alerta de reposición.</a:t>
            </a:r>
          </a:p>
          <a:p>
            <a:pPr marL="0" indent="0" algn="just">
              <a:buNone/>
            </a:pPr>
            <a:r>
              <a:rPr lang="es-CL" dirty="0">
                <a:latin typeface="Candara Light" panose="020E0502030303020204" pitchFamily="34" charset="0"/>
              </a:rPr>
              <a:t>Se da por la regla de CHECK (stock &gt;= 0), que por ley de negocio impide que stock sea negativo.</a:t>
            </a:r>
          </a:p>
          <a:p>
            <a:pPr marL="0" indent="0">
              <a:buNone/>
            </a:pPr>
            <a:endParaRPr lang="es-CL" dirty="0">
              <a:latin typeface="Candara Light" panose="020E0502030303020204" pitchFamily="34" charset="0"/>
            </a:endParaRP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A3BB55E-DEE1-8721-8BA6-4A41C9807C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00225"/>
            <a:ext cx="5334000" cy="4418459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s-CL" dirty="0">
                <a:latin typeface="Candara Light" panose="020E0502030303020204" pitchFamily="34" charset="0"/>
              </a:rPr>
              <a:t>¿Uso de “SET </a:t>
            </a:r>
            <a:r>
              <a:rPr lang="es-CL" dirty="0" err="1">
                <a:latin typeface="Candara Light" panose="020E0502030303020204" pitchFamily="34" charset="0"/>
              </a:rPr>
              <a:t>search_path</a:t>
            </a:r>
            <a:r>
              <a:rPr lang="es-CL" dirty="0">
                <a:latin typeface="Candara Light" panose="020E0502030303020204" pitchFamily="34" charset="0"/>
              </a:rPr>
              <a:t> TO </a:t>
            </a:r>
            <a:r>
              <a:rPr lang="es-CL" dirty="0" err="1">
                <a:latin typeface="Candara Light" panose="020E0502030303020204" pitchFamily="34" charset="0"/>
              </a:rPr>
              <a:t>logitrack</a:t>
            </a:r>
            <a:r>
              <a:rPr lang="es-CL" dirty="0">
                <a:latin typeface="Candara Light" panose="020E0502030303020204" pitchFamily="34" charset="0"/>
              </a:rPr>
              <a:t>”?</a:t>
            </a:r>
          </a:p>
          <a:p>
            <a:pPr marL="0" indent="0" algn="just">
              <a:buNone/>
            </a:pPr>
            <a:r>
              <a:rPr lang="es-CL" dirty="0">
                <a:latin typeface="Candara Light" panose="020E0502030303020204" pitchFamily="34" charset="0"/>
              </a:rPr>
              <a:t>Es el medio para definir el esquema por defecto para todas las consultas. Sin él, cada tabla debe escribirse como “</a:t>
            </a:r>
            <a:r>
              <a:rPr lang="es-CL" dirty="0" err="1">
                <a:latin typeface="Candara Light" panose="020E0502030303020204" pitchFamily="34" charset="0"/>
              </a:rPr>
              <a:t>logitrack.tabla</a:t>
            </a:r>
            <a:r>
              <a:rPr lang="es-CL" dirty="0">
                <a:latin typeface="Candara Light" panose="020E0502030303020204" pitchFamily="34" charset="0"/>
              </a:rPr>
              <a:t>” </a:t>
            </a:r>
          </a:p>
          <a:p>
            <a:pPr marL="0" indent="0" algn="just">
              <a:buNone/>
            </a:pPr>
            <a:endParaRPr lang="es-CL" dirty="0">
              <a:latin typeface="Candara Light" panose="020E0502030303020204" pitchFamily="34" charset="0"/>
            </a:endParaRPr>
          </a:p>
          <a:p>
            <a:pPr marL="0" indent="0" algn="just">
              <a:buNone/>
            </a:pPr>
            <a:r>
              <a:rPr lang="es-CL" dirty="0">
                <a:latin typeface="Candara Light" panose="020E0502030303020204" pitchFamily="34" charset="0"/>
              </a:rPr>
              <a:t>¿PRIMARY KEY compuesta?</a:t>
            </a:r>
          </a:p>
          <a:p>
            <a:pPr marL="0" indent="0" algn="just">
              <a:buNone/>
            </a:pPr>
            <a:r>
              <a:rPr lang="es-CL" dirty="0">
                <a:latin typeface="Candara Light" panose="020E0502030303020204" pitchFamily="34" charset="0"/>
              </a:rPr>
              <a:t>En las tablas intermedias (</a:t>
            </a:r>
            <a:r>
              <a:rPr lang="es-CL" dirty="0" err="1">
                <a:latin typeface="Candara Light" panose="020E0502030303020204" pitchFamily="34" charset="0"/>
              </a:rPr>
              <a:t>Producto_Proveedor</a:t>
            </a:r>
            <a:r>
              <a:rPr lang="es-CL" dirty="0">
                <a:latin typeface="Candara Light" panose="020E0502030303020204" pitchFamily="34" charset="0"/>
              </a:rPr>
              <a:t>) y (</a:t>
            </a:r>
            <a:r>
              <a:rPr lang="es-CL" dirty="0" err="1">
                <a:latin typeface="Candara Light" panose="020E0502030303020204" pitchFamily="34" charset="0"/>
              </a:rPr>
              <a:t>Detalle_Ordenes</a:t>
            </a:r>
            <a:r>
              <a:rPr lang="es-CL" dirty="0">
                <a:latin typeface="Candara Light" panose="020E0502030303020204" pitchFamily="34" charset="0"/>
              </a:rPr>
              <a:t>), la PK combina dos FK. </a:t>
            </a:r>
          </a:p>
          <a:p>
            <a:pPr marL="0" indent="0" algn="just">
              <a:buNone/>
            </a:pPr>
            <a:r>
              <a:rPr lang="es-CL" dirty="0">
                <a:latin typeface="Candara Light" panose="020E0502030303020204" pitchFamily="34" charset="0"/>
              </a:rPr>
              <a:t>Esto garantiza que cada combinación producto-proveedor o orden-producto sea única, resolviendo la relación N:N</a:t>
            </a:r>
          </a:p>
        </p:txBody>
      </p:sp>
    </p:spTree>
    <p:extLst>
      <p:ext uri="{BB962C8B-B14F-4D97-AF65-F5344CB8AC3E}">
        <p14:creationId xmlns:p14="http://schemas.microsoft.com/office/powerpoint/2010/main" val="3545036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49D5E8-5BF8-500F-42AD-CB5A65F52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14650"/>
            <a:ext cx="2908300" cy="1028700"/>
          </a:xfrm>
        </p:spPr>
        <p:txBody>
          <a:bodyPr/>
          <a:lstStyle/>
          <a:p>
            <a:pPr algn="ctr"/>
            <a:r>
              <a:rPr lang="es-CL" dirty="0">
                <a:latin typeface="Candara Light" panose="020E0502030303020204" pitchFamily="34" charset="0"/>
              </a:rPr>
              <a:t>Modelo ER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5F8ECC3-C9B8-69D6-9726-115B183FD6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8300" y="259634"/>
            <a:ext cx="8797925" cy="6338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1565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ED2C2B-9711-E5B6-3B6D-7E814743D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/>
          <a:lstStyle/>
          <a:p>
            <a:pPr algn="ctr"/>
            <a:r>
              <a:rPr lang="es-CL" dirty="0">
                <a:latin typeface="Candara Light" panose="020E0502030303020204" pitchFamily="34" charset="0"/>
              </a:rPr>
              <a:t>Conexión a Remoto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5878ACD-9706-2985-23C4-7486E4417A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1996441"/>
          </a:xfrm>
        </p:spPr>
        <p:txBody>
          <a:bodyPr/>
          <a:lstStyle/>
          <a:p>
            <a:pPr marL="0" indent="0" algn="just">
              <a:buNone/>
            </a:pPr>
            <a:r>
              <a:rPr lang="es-CL" dirty="0">
                <a:latin typeface="Candara Light" panose="020E0502030303020204" pitchFamily="34" charset="0"/>
              </a:rPr>
              <a:t>Para subir los archivos a /</a:t>
            </a:r>
            <a:r>
              <a:rPr lang="es-CL" dirty="0" err="1">
                <a:latin typeface="Candara Light" panose="020E0502030303020204" pitchFamily="34" charset="0"/>
              </a:rPr>
              <a:t>tmp</a:t>
            </a:r>
            <a:r>
              <a:rPr lang="es-CL" dirty="0">
                <a:latin typeface="Candara Light" panose="020E0502030303020204" pitchFamily="34" charset="0"/>
              </a:rPr>
              <a:t>/ (archivos temporales). Aunque también subí al home/ua_eq06/</a:t>
            </a:r>
          </a:p>
          <a:p>
            <a:pPr marL="0" indent="0" algn="just">
              <a:buNone/>
            </a:pPr>
            <a:endParaRPr lang="es-CL" dirty="0">
              <a:latin typeface="Candara Light" panose="020E0502030303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3BD5393-ADC0-B515-E001-35C987B5F4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192779"/>
            <a:ext cx="5334000" cy="143987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662AEC12-B367-99D4-9B6F-98F3CCD25FFD}"/>
              </a:ext>
            </a:extLst>
          </p:cNvPr>
          <p:cNvSpPr txBox="1"/>
          <p:nvPr/>
        </p:nvSpPr>
        <p:spPr>
          <a:xfrm>
            <a:off x="1166945" y="4544199"/>
            <a:ext cx="21996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200" dirty="0">
                <a:latin typeface="Candara Light" panose="020E0502030303020204" pitchFamily="34" charset="0"/>
              </a:rPr>
              <a:t>Fig 4. carga de archivos a /</a:t>
            </a:r>
            <a:r>
              <a:rPr lang="es-CL" sz="1200" dirty="0" err="1">
                <a:latin typeface="Candara Light" panose="020E0502030303020204" pitchFamily="34" charset="0"/>
              </a:rPr>
              <a:t>tmp</a:t>
            </a:r>
            <a:r>
              <a:rPr lang="es-CL" sz="1200" dirty="0">
                <a:latin typeface="Candara Light" panose="020E0502030303020204" pitchFamily="34" charset="0"/>
              </a:rPr>
              <a:t>/.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585CB42F-A5B4-21AB-5DB3-647D8F2C89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559" y="4821198"/>
            <a:ext cx="5058481" cy="457264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A03876DE-5281-EBA1-1AB3-31BD0417A1E4}"/>
              </a:ext>
            </a:extLst>
          </p:cNvPr>
          <p:cNvSpPr txBox="1"/>
          <p:nvPr/>
        </p:nvSpPr>
        <p:spPr>
          <a:xfrm>
            <a:off x="1490111" y="5278462"/>
            <a:ext cx="37529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200" dirty="0">
                <a:latin typeface="Candara Light" panose="020E0502030303020204" pitchFamily="34" charset="0"/>
              </a:rPr>
              <a:t>Fig 5. comando “</a:t>
            </a:r>
            <a:r>
              <a:rPr lang="es-CL" sz="1200" dirty="0" err="1">
                <a:latin typeface="Candara Light" panose="020E0502030303020204" pitchFamily="34" charset="0"/>
              </a:rPr>
              <a:t>ls</a:t>
            </a:r>
            <a:r>
              <a:rPr lang="es-CL" sz="1200" dirty="0">
                <a:latin typeface="Candara Light" panose="020E0502030303020204" pitchFamily="34" charset="0"/>
              </a:rPr>
              <a:t>” para verificar archivos permanentes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E9C0BB72-C08B-B881-793D-959CC0E654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5526" y="1844796"/>
            <a:ext cx="3930410" cy="3363783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1246B813-FC5A-414B-298E-5CDFD2975260}"/>
              </a:ext>
            </a:extLst>
          </p:cNvPr>
          <p:cNvSpPr txBox="1"/>
          <p:nvPr/>
        </p:nvSpPr>
        <p:spPr>
          <a:xfrm>
            <a:off x="8164222" y="5208579"/>
            <a:ext cx="16530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200" dirty="0">
                <a:latin typeface="Candara Light" panose="020E0502030303020204" pitchFamily="34" charset="0"/>
              </a:rPr>
              <a:t>Fig 6. conexión por </a:t>
            </a:r>
            <a:r>
              <a:rPr lang="es-CL" sz="1200" dirty="0" err="1">
                <a:latin typeface="Candara Light" panose="020E0502030303020204" pitchFamily="34" charset="0"/>
              </a:rPr>
              <a:t>ssh</a:t>
            </a:r>
            <a:endParaRPr lang="es-CL" sz="1200" dirty="0">
              <a:latin typeface="Candara Light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74392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0958BE-A1EF-DC30-9282-0E0A71D08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/>
          <a:lstStyle/>
          <a:p>
            <a:pPr algn="ctr"/>
            <a:r>
              <a:rPr lang="es-CL" dirty="0">
                <a:latin typeface="Candara Light" panose="020E0502030303020204" pitchFamily="34" charset="0"/>
              </a:rPr>
              <a:t>Conexión a Remoto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3C2FF78C-0A83-012F-D4EE-4BFDFB2FEFE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19100" y="1927429"/>
            <a:ext cx="5334000" cy="1501571"/>
          </a:xfrm>
          <a:prstGeom prst="rect">
            <a:avLst/>
          </a:prstGeom>
        </p:spPr>
      </p:pic>
      <p:pic>
        <p:nvPicPr>
          <p:cNvPr id="14" name="Marcador de contenido 13">
            <a:extLst>
              <a:ext uri="{FF2B5EF4-FFF2-40B4-BE49-F238E27FC236}">
                <a16:creationId xmlns:a16="http://schemas.microsoft.com/office/drawing/2014/main" id="{31117BB8-A503-2B7F-AE31-44822CA6B0F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099" y="3834285"/>
            <a:ext cx="5334000" cy="857893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3150BA31-7BFB-1DE2-5EFE-AAE579CDD4E9}"/>
              </a:ext>
            </a:extLst>
          </p:cNvPr>
          <p:cNvSpPr txBox="1"/>
          <p:nvPr/>
        </p:nvSpPr>
        <p:spPr>
          <a:xfrm>
            <a:off x="1960631" y="3429000"/>
            <a:ext cx="22509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200" dirty="0">
                <a:latin typeface="Candara Light" panose="020E0502030303020204" pitchFamily="34" charset="0"/>
              </a:rPr>
              <a:t>Fig 7. Carga de archivos en /</a:t>
            </a:r>
            <a:r>
              <a:rPr lang="es-CL" sz="1200" dirty="0" err="1">
                <a:latin typeface="Candara Light" panose="020E0502030303020204" pitchFamily="34" charset="0"/>
              </a:rPr>
              <a:t>tmp</a:t>
            </a:r>
            <a:r>
              <a:rPr lang="es-CL" sz="1200" dirty="0">
                <a:latin typeface="Candara Light" panose="020E0502030303020204" pitchFamily="34" charset="0"/>
              </a:rPr>
              <a:t>/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0659F8E-9AC8-0988-7B1D-0793D2CDF5FE}"/>
              </a:ext>
            </a:extLst>
          </p:cNvPr>
          <p:cNvSpPr txBox="1"/>
          <p:nvPr/>
        </p:nvSpPr>
        <p:spPr>
          <a:xfrm>
            <a:off x="2298864" y="4592056"/>
            <a:ext cx="15744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200" dirty="0">
                <a:latin typeface="Candara Light" panose="020E0502030303020204" pitchFamily="34" charset="0"/>
              </a:rPr>
              <a:t>Fig 8. Conexión a </a:t>
            </a:r>
            <a:r>
              <a:rPr lang="es-CL" sz="1200" dirty="0" err="1">
                <a:latin typeface="Candara Light" panose="020E0502030303020204" pitchFamily="34" charset="0"/>
              </a:rPr>
              <a:t>psql</a:t>
            </a:r>
            <a:endParaRPr lang="es-CL" sz="1200" dirty="0">
              <a:latin typeface="Candara Light" panose="020E0502030303020204" pitchFamily="34" charset="0"/>
            </a:endParaRP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44FAC6D3-EE15-FEA0-3EC0-A0024132E3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099" y="5121059"/>
            <a:ext cx="6096000" cy="505767"/>
          </a:xfrm>
          <a:prstGeom prst="rect">
            <a:avLst/>
          </a:prstGeom>
        </p:spPr>
      </p:pic>
      <p:sp>
        <p:nvSpPr>
          <p:cNvPr id="20" name="CuadroTexto 19">
            <a:extLst>
              <a:ext uri="{FF2B5EF4-FFF2-40B4-BE49-F238E27FC236}">
                <a16:creationId xmlns:a16="http://schemas.microsoft.com/office/drawing/2014/main" id="{C37D6FFA-4091-85E6-14B2-E26BC44FAA22}"/>
              </a:ext>
            </a:extLst>
          </p:cNvPr>
          <p:cNvSpPr txBox="1"/>
          <p:nvPr/>
        </p:nvSpPr>
        <p:spPr>
          <a:xfrm>
            <a:off x="4467188" y="5740330"/>
            <a:ext cx="32576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200" dirty="0">
                <a:latin typeface="Candara Light" panose="020E0502030303020204" pitchFamily="34" charset="0"/>
              </a:rPr>
              <a:t>Fig 9. Verificar que Base de Datos están creadas</a:t>
            </a:r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0E831046-04C5-18A5-0BC5-077AF78A49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1684100"/>
            <a:ext cx="4853459" cy="860107"/>
          </a:xfrm>
          <a:prstGeom prst="rect">
            <a:avLst/>
          </a:prstGeom>
        </p:spPr>
      </p:pic>
      <p:sp>
        <p:nvSpPr>
          <p:cNvPr id="24" name="CuadroTexto 23">
            <a:extLst>
              <a:ext uri="{FF2B5EF4-FFF2-40B4-BE49-F238E27FC236}">
                <a16:creationId xmlns:a16="http://schemas.microsoft.com/office/drawing/2014/main" id="{F80CECAF-BCC3-7F13-F5AA-A11EF5DE24EE}"/>
              </a:ext>
            </a:extLst>
          </p:cNvPr>
          <p:cNvSpPr txBox="1"/>
          <p:nvPr/>
        </p:nvSpPr>
        <p:spPr>
          <a:xfrm>
            <a:off x="6893916" y="2544207"/>
            <a:ext cx="32816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200" dirty="0">
                <a:latin typeface="Candara Light" panose="020E0502030303020204" pitchFamily="34" charset="0"/>
              </a:rPr>
              <a:t>Fig 10. Creación de una DB diferente “logitrack2”</a:t>
            </a:r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4094839C-4676-5202-60D5-1273478DD14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8350" y="2934710"/>
            <a:ext cx="6095997" cy="968317"/>
          </a:xfrm>
          <a:prstGeom prst="rect">
            <a:avLst/>
          </a:prstGeom>
        </p:spPr>
      </p:pic>
      <p:sp>
        <p:nvSpPr>
          <p:cNvPr id="29" name="CuadroTexto 28">
            <a:extLst>
              <a:ext uri="{FF2B5EF4-FFF2-40B4-BE49-F238E27FC236}">
                <a16:creationId xmlns:a16="http://schemas.microsoft.com/office/drawing/2014/main" id="{FD3C0AEB-7B5C-DE72-972C-8C5F3A31820F}"/>
              </a:ext>
            </a:extLst>
          </p:cNvPr>
          <p:cNvSpPr txBox="1"/>
          <p:nvPr/>
        </p:nvSpPr>
        <p:spPr>
          <a:xfrm>
            <a:off x="7336345" y="3821280"/>
            <a:ext cx="23727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200" dirty="0">
                <a:latin typeface="Candara Light" panose="020E0502030303020204" pitchFamily="34" charset="0"/>
              </a:rPr>
              <a:t>Fig 11. Conexión con DB logitrack2</a:t>
            </a:r>
          </a:p>
        </p:txBody>
      </p:sp>
    </p:spTree>
    <p:extLst>
      <p:ext uri="{BB962C8B-B14F-4D97-AF65-F5344CB8AC3E}">
        <p14:creationId xmlns:p14="http://schemas.microsoft.com/office/powerpoint/2010/main" val="19673054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1DE2F5-87E8-02FB-09FC-6CB16BA1F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762" y="0"/>
            <a:ext cx="10658475" cy="1293028"/>
          </a:xfrm>
        </p:spPr>
        <p:txBody>
          <a:bodyPr/>
          <a:lstStyle/>
          <a:p>
            <a:pPr algn="ctr"/>
            <a:r>
              <a:rPr lang="es-CL" dirty="0">
                <a:latin typeface="Candara Light" panose="020E0502030303020204" pitchFamily="34" charset="0"/>
              </a:rPr>
              <a:t>Conexión a Remoto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FCFEA45-DEF3-CA3C-3C5D-0E9DBF8134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399" y="1013031"/>
            <a:ext cx="5267325" cy="205063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70428BF7-70CE-6A78-5106-09170EC13E0F}"/>
              </a:ext>
            </a:extLst>
          </p:cNvPr>
          <p:cNvSpPr txBox="1"/>
          <p:nvPr/>
        </p:nvSpPr>
        <p:spPr>
          <a:xfrm>
            <a:off x="2299676" y="3063669"/>
            <a:ext cx="17347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200" dirty="0">
                <a:latin typeface="Candara Light" panose="020E0502030303020204" pitchFamily="34" charset="0"/>
              </a:rPr>
              <a:t>Fig 12. Script 01 cargado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B1BA254-2CBC-9DF3-FF9F-A11D986DC9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6839" y="3429000"/>
            <a:ext cx="3440443" cy="2839421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556604FB-A8E1-FC63-38EA-CC145629ACE4}"/>
              </a:ext>
            </a:extLst>
          </p:cNvPr>
          <p:cNvSpPr txBox="1"/>
          <p:nvPr/>
        </p:nvSpPr>
        <p:spPr>
          <a:xfrm>
            <a:off x="2268416" y="6268421"/>
            <a:ext cx="17972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200" dirty="0">
                <a:latin typeface="Candara Light" panose="020E0502030303020204" pitchFamily="34" charset="0"/>
              </a:rPr>
              <a:t>Fig 13. Script 02a cargado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B7E47E05-46C0-365C-36B8-60F5E8DA88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1717" y="1013031"/>
            <a:ext cx="3950607" cy="2958259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CCBDAE78-C438-D00F-8152-36A7BB037B65}"/>
              </a:ext>
            </a:extLst>
          </p:cNvPr>
          <p:cNvSpPr txBox="1"/>
          <p:nvPr/>
        </p:nvSpPr>
        <p:spPr>
          <a:xfrm>
            <a:off x="9089787" y="646514"/>
            <a:ext cx="18117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200" dirty="0">
                <a:latin typeface="Candara Light" panose="020E0502030303020204" pitchFamily="34" charset="0"/>
              </a:rPr>
              <a:t>Fig 14. Script 02b cargado</a:t>
            </a: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8BADB8AF-F3A2-8DB1-A1F7-A8FC417C74C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5448" y="4203381"/>
            <a:ext cx="4658335" cy="1200182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560E9E8F-1CAC-B9C5-3BE6-5AFD0D934A4F}"/>
              </a:ext>
            </a:extLst>
          </p:cNvPr>
          <p:cNvSpPr txBox="1"/>
          <p:nvPr/>
        </p:nvSpPr>
        <p:spPr>
          <a:xfrm>
            <a:off x="6928758" y="5403563"/>
            <a:ext cx="17652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200" dirty="0">
                <a:latin typeface="Candara Light" panose="020E0502030303020204" pitchFamily="34" charset="0"/>
              </a:rPr>
              <a:t>Fig 15. Script 03 cargado</a:t>
            </a:r>
          </a:p>
        </p:txBody>
      </p:sp>
    </p:spTree>
    <p:extLst>
      <p:ext uri="{BB962C8B-B14F-4D97-AF65-F5344CB8AC3E}">
        <p14:creationId xmlns:p14="http://schemas.microsoft.com/office/powerpoint/2010/main" val="13332954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12F160-126E-EE53-288A-FEFF81127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025" y="211923"/>
            <a:ext cx="11029950" cy="1293028"/>
          </a:xfrm>
        </p:spPr>
        <p:txBody>
          <a:bodyPr/>
          <a:lstStyle/>
          <a:p>
            <a:pPr algn="ctr"/>
            <a:r>
              <a:rPr lang="es-CL" dirty="0">
                <a:latin typeface="Candara Light" panose="020E0502030303020204" pitchFamily="34" charset="0"/>
              </a:rPr>
              <a:t>Conexión A remoto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1338351-2706-026B-1619-B8699BFD0C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757" y="1209676"/>
            <a:ext cx="4370324" cy="221932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E81B2E3D-3C5A-D27D-FFA2-6BF8F611DA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669" y="4148379"/>
            <a:ext cx="4000499" cy="204617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2B3C06CE-13C4-D1B0-15DC-497D24468B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2547" y="1247961"/>
            <a:ext cx="6291778" cy="2142753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2F8DE54B-3E6C-5397-4701-513CC1A7A7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3975" y="3486619"/>
            <a:ext cx="4465928" cy="3159458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03F2BD27-6624-1733-F9AE-2E1479B86062}"/>
              </a:ext>
            </a:extLst>
          </p:cNvPr>
          <p:cNvSpPr txBox="1"/>
          <p:nvPr/>
        </p:nvSpPr>
        <p:spPr>
          <a:xfrm>
            <a:off x="1606304" y="3511690"/>
            <a:ext cx="17347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200" dirty="0">
                <a:latin typeface="Candara Light" panose="020E0502030303020204" pitchFamily="34" charset="0"/>
              </a:rPr>
              <a:t>Fig 16. Script 4a cargado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035E31E7-7E44-B1B2-7347-EEF4EDE9608B}"/>
              </a:ext>
            </a:extLst>
          </p:cNvPr>
          <p:cNvSpPr txBox="1"/>
          <p:nvPr/>
        </p:nvSpPr>
        <p:spPr>
          <a:xfrm>
            <a:off x="1606304" y="6187139"/>
            <a:ext cx="17299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200" dirty="0">
                <a:latin typeface="Candara Light" panose="020E0502030303020204" pitchFamily="34" charset="0"/>
              </a:rPr>
              <a:t>Fig 17. Script 4b cargado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EC972BE3-98E1-EDB4-FA0F-ECCF540D639B}"/>
              </a:ext>
            </a:extLst>
          </p:cNvPr>
          <p:cNvSpPr txBox="1"/>
          <p:nvPr/>
        </p:nvSpPr>
        <p:spPr>
          <a:xfrm>
            <a:off x="8598436" y="875057"/>
            <a:ext cx="17283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200" dirty="0">
                <a:latin typeface="Candara Light" panose="020E0502030303020204" pitchFamily="34" charset="0"/>
              </a:rPr>
              <a:t>Fig 18. Script 4c cargado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F954CB20-99D0-37EE-5EB7-9DDCF625B32D}"/>
              </a:ext>
            </a:extLst>
          </p:cNvPr>
          <p:cNvSpPr txBox="1"/>
          <p:nvPr/>
        </p:nvSpPr>
        <p:spPr>
          <a:xfrm>
            <a:off x="9658034" y="4559440"/>
            <a:ext cx="17299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200" dirty="0">
                <a:latin typeface="Candara Light" panose="020E0502030303020204" pitchFamily="34" charset="0"/>
              </a:rPr>
              <a:t>Fig 19. Script 5a cargado</a:t>
            </a:r>
          </a:p>
        </p:txBody>
      </p:sp>
    </p:spTree>
    <p:extLst>
      <p:ext uri="{BB962C8B-B14F-4D97-AF65-F5344CB8AC3E}">
        <p14:creationId xmlns:p14="http://schemas.microsoft.com/office/powerpoint/2010/main" val="800301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7129DE-27E3-64EF-7507-7B8B49AE6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437" y="0"/>
            <a:ext cx="10525125" cy="1293028"/>
          </a:xfrm>
        </p:spPr>
        <p:txBody>
          <a:bodyPr/>
          <a:lstStyle/>
          <a:p>
            <a:pPr algn="ctr"/>
            <a:r>
              <a:rPr lang="es-CL" dirty="0"/>
              <a:t>Conexión a Remoto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4E81ACB-BE95-2A19-FEF6-7F65DE029E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61022"/>
            <a:ext cx="4457700" cy="234929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E3ACC138-2684-3EC8-79B1-3A23CF1909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545" y="3790950"/>
            <a:ext cx="4800600" cy="242667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144462E5-C930-388E-B7FF-9F90E95307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7539" y="889939"/>
            <a:ext cx="4736611" cy="2380744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73C35FB3-BCA8-D1F3-C917-4B52093FED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587318"/>
            <a:ext cx="4800601" cy="2449604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6A1B5993-FE54-F287-01E6-470079118DA5}"/>
              </a:ext>
            </a:extLst>
          </p:cNvPr>
          <p:cNvSpPr txBox="1"/>
          <p:nvPr/>
        </p:nvSpPr>
        <p:spPr>
          <a:xfrm>
            <a:off x="1552222" y="3273635"/>
            <a:ext cx="13532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200" dirty="0">
                <a:latin typeface="Candara Light" panose="020E0502030303020204" pitchFamily="34" charset="0"/>
              </a:rPr>
              <a:t>Fig 20. 5b cargado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43B0996-0C81-A4C9-7368-5EDFDFCA32FD}"/>
              </a:ext>
            </a:extLst>
          </p:cNvPr>
          <p:cNvSpPr txBox="1"/>
          <p:nvPr/>
        </p:nvSpPr>
        <p:spPr>
          <a:xfrm>
            <a:off x="1942747" y="6217627"/>
            <a:ext cx="13083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200" dirty="0">
                <a:latin typeface="Candara Light" panose="020E0502030303020204" pitchFamily="34" charset="0"/>
              </a:rPr>
              <a:t>Fig 21. 5c cargado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9FC0F7BE-895F-5BFE-EC0D-4D5863D194EB}"/>
              </a:ext>
            </a:extLst>
          </p:cNvPr>
          <p:cNvSpPr txBox="1"/>
          <p:nvPr/>
        </p:nvSpPr>
        <p:spPr>
          <a:xfrm>
            <a:off x="7160678" y="3270682"/>
            <a:ext cx="13356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200" dirty="0">
                <a:latin typeface="Candara Light" panose="020E0502030303020204" pitchFamily="34" charset="0"/>
              </a:rPr>
              <a:t>Fig 22. 5d cargado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93674FB5-32D5-5BE3-AB30-E6F0E131040E}"/>
              </a:ext>
            </a:extLst>
          </p:cNvPr>
          <p:cNvSpPr txBox="1"/>
          <p:nvPr/>
        </p:nvSpPr>
        <p:spPr>
          <a:xfrm>
            <a:off x="7819672" y="5968061"/>
            <a:ext cx="13372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200" dirty="0">
                <a:latin typeface="Candara Light" panose="020E0502030303020204" pitchFamily="34" charset="0"/>
              </a:rPr>
              <a:t>Fig 23. 5e cargado</a:t>
            </a:r>
          </a:p>
        </p:txBody>
      </p:sp>
    </p:spTree>
    <p:extLst>
      <p:ext uri="{BB962C8B-B14F-4D97-AF65-F5344CB8AC3E}">
        <p14:creationId xmlns:p14="http://schemas.microsoft.com/office/powerpoint/2010/main" val="16653300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383726-8B98-2CCA-2F17-20832761C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562" y="0"/>
            <a:ext cx="10810875" cy="1293028"/>
          </a:xfrm>
        </p:spPr>
        <p:txBody>
          <a:bodyPr/>
          <a:lstStyle/>
          <a:p>
            <a:pPr algn="ctr"/>
            <a:r>
              <a:rPr lang="es-CL" dirty="0">
                <a:latin typeface="Candara Light" panose="020E0502030303020204" pitchFamily="34" charset="0"/>
              </a:rPr>
              <a:t>Conexión a Remoto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F042831-C246-022E-EF80-C9CE5C4B48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145" y="1057275"/>
            <a:ext cx="3712430" cy="220629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A7D35C3-8A9D-9244-1444-493074800E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386" y="3883705"/>
            <a:ext cx="4629150" cy="2416274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2E991898-2559-CC7E-2D93-6DC558C930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200" y="990468"/>
            <a:ext cx="4371974" cy="229859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E0562CF2-B594-5657-5979-0445007C83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3429000"/>
            <a:ext cx="4469437" cy="3128931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033FC4B7-6EC2-742D-1A80-763C371FA24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6658" y="274889"/>
            <a:ext cx="1905295" cy="2754954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45E327B5-257D-411C-A805-6885CC3AFA95}"/>
              </a:ext>
            </a:extLst>
          </p:cNvPr>
          <p:cNvSpPr txBox="1"/>
          <p:nvPr/>
        </p:nvSpPr>
        <p:spPr>
          <a:xfrm>
            <a:off x="1139045" y="3304402"/>
            <a:ext cx="13067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200" dirty="0">
                <a:latin typeface="Candara Light" panose="020E0502030303020204" pitchFamily="34" charset="0"/>
              </a:rPr>
              <a:t>Fig 23. 5f cargado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D1B522BA-ECD6-A309-A7B7-9D40C81828B8}"/>
              </a:ext>
            </a:extLst>
          </p:cNvPr>
          <p:cNvSpPr txBox="1"/>
          <p:nvPr/>
        </p:nvSpPr>
        <p:spPr>
          <a:xfrm>
            <a:off x="2094577" y="6299979"/>
            <a:ext cx="13484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200" dirty="0">
                <a:latin typeface="Candara Light" panose="020E0502030303020204" pitchFamily="34" charset="0"/>
              </a:rPr>
              <a:t>Fig 24. 6a cargado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C3D2A82-B02A-B68A-D411-9F7A378348ED}"/>
              </a:ext>
            </a:extLst>
          </p:cNvPr>
          <p:cNvSpPr txBox="1"/>
          <p:nvPr/>
        </p:nvSpPr>
        <p:spPr>
          <a:xfrm>
            <a:off x="4538867" y="3409784"/>
            <a:ext cx="13548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200" dirty="0">
                <a:latin typeface="Candara Light" panose="020E0502030303020204" pitchFamily="34" charset="0"/>
              </a:rPr>
              <a:t>Fig 25. 6b cargado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622750D-7BC9-126B-E5EB-46F78A672229}"/>
              </a:ext>
            </a:extLst>
          </p:cNvPr>
          <p:cNvSpPr txBox="1"/>
          <p:nvPr/>
        </p:nvSpPr>
        <p:spPr>
          <a:xfrm>
            <a:off x="10641953" y="4716466"/>
            <a:ext cx="13500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200" dirty="0">
                <a:latin typeface="Candara Light" panose="020E0502030303020204" pitchFamily="34" charset="0"/>
              </a:rPr>
              <a:t>Fig 26. 6c cargado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2705086C-F697-AEAD-CFC8-FDC38A04ECE5}"/>
              </a:ext>
            </a:extLst>
          </p:cNvPr>
          <p:cNvSpPr txBox="1"/>
          <p:nvPr/>
        </p:nvSpPr>
        <p:spPr>
          <a:xfrm>
            <a:off x="10643557" y="980521"/>
            <a:ext cx="13500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200" dirty="0">
                <a:latin typeface="Candara Light" panose="020E0502030303020204" pitchFamily="34" charset="0"/>
              </a:rPr>
              <a:t>Fig 27. 6d cargado</a:t>
            </a:r>
          </a:p>
        </p:txBody>
      </p:sp>
    </p:spTree>
    <p:extLst>
      <p:ext uri="{BB962C8B-B14F-4D97-AF65-F5344CB8AC3E}">
        <p14:creationId xmlns:p14="http://schemas.microsoft.com/office/powerpoint/2010/main" val="24067599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A9E2C5-5815-E708-495B-58A58BFDE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287" y="202398"/>
            <a:ext cx="10639425" cy="1293028"/>
          </a:xfrm>
        </p:spPr>
        <p:txBody>
          <a:bodyPr/>
          <a:lstStyle/>
          <a:p>
            <a:pPr algn="ctr"/>
            <a:r>
              <a:rPr lang="es-CL" dirty="0">
                <a:latin typeface="Candara Light" panose="020E0502030303020204" pitchFamily="34" charset="0"/>
              </a:rPr>
              <a:t>Conexión a Remoto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2BCDD34-BA30-8926-31D7-0922468160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403" y="1323974"/>
            <a:ext cx="5466053" cy="1190625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1397F36A-571E-23C9-C386-9354E5B4E0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403" y="3429000"/>
            <a:ext cx="4982214" cy="132891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ED2C71D2-B392-803D-6B7A-802002C52F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8921" y="1115142"/>
            <a:ext cx="4314824" cy="2313858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37F71E72-9FFA-F1F1-A73D-852C620572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8725" y="3590924"/>
            <a:ext cx="3711819" cy="2752725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5C54AB99-2CE9-8AC6-67B5-D683A5E6F0CE}"/>
              </a:ext>
            </a:extLst>
          </p:cNvPr>
          <p:cNvSpPr txBox="1"/>
          <p:nvPr/>
        </p:nvSpPr>
        <p:spPr>
          <a:xfrm>
            <a:off x="2034485" y="2514599"/>
            <a:ext cx="17107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200" dirty="0">
                <a:latin typeface="Candara Light" panose="020E0502030303020204" pitchFamily="34" charset="0"/>
              </a:rPr>
              <a:t>Fig 28. </a:t>
            </a:r>
            <a:r>
              <a:rPr lang="es-CL" sz="1200" dirty="0" err="1">
                <a:latin typeface="Candara Light" panose="020E0502030303020204" pitchFamily="34" charset="0"/>
              </a:rPr>
              <a:t>logitrack.clientes</a:t>
            </a:r>
            <a:endParaRPr lang="es-CL" sz="1200" dirty="0">
              <a:latin typeface="Candara Light" panose="020E0502030303020204" pitchFamily="34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EEE4E56-87E1-04E4-272F-1E06935D2908}"/>
              </a:ext>
            </a:extLst>
          </p:cNvPr>
          <p:cNvSpPr txBox="1"/>
          <p:nvPr/>
        </p:nvSpPr>
        <p:spPr>
          <a:xfrm>
            <a:off x="1854147" y="4828786"/>
            <a:ext cx="18854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200" dirty="0">
                <a:latin typeface="Candara Light" panose="020E0502030303020204" pitchFamily="34" charset="0"/>
              </a:rPr>
              <a:t>Fig 29. </a:t>
            </a:r>
            <a:r>
              <a:rPr lang="es-CL" sz="1200" dirty="0" err="1">
                <a:latin typeface="Candara Light" panose="020E0502030303020204" pitchFamily="34" charset="0"/>
              </a:rPr>
              <a:t>logitrack.productos</a:t>
            </a:r>
            <a:endParaRPr lang="es-CL" sz="1200" dirty="0">
              <a:latin typeface="Candara Light" panose="020E0502030303020204" pitchFamily="34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995D3197-074B-924D-F3AE-0276DABC0C6D}"/>
              </a:ext>
            </a:extLst>
          </p:cNvPr>
          <p:cNvSpPr txBox="1"/>
          <p:nvPr/>
        </p:nvSpPr>
        <p:spPr>
          <a:xfrm>
            <a:off x="8681369" y="838143"/>
            <a:ext cx="17540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200" dirty="0">
                <a:latin typeface="Candara Light" panose="020E0502030303020204" pitchFamily="34" charset="0"/>
              </a:rPr>
              <a:t>Fig 30. </a:t>
            </a:r>
            <a:r>
              <a:rPr lang="es-CL" sz="1200" dirty="0" err="1">
                <a:latin typeface="Candara Light" panose="020E0502030303020204" pitchFamily="34" charset="0"/>
              </a:rPr>
              <a:t>logitrack.ordenes</a:t>
            </a:r>
            <a:endParaRPr lang="es-CL" sz="1200" dirty="0">
              <a:latin typeface="Candara Light" panose="020E0502030303020204" pitchFamily="34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38DA693F-7801-9FE8-1848-5B8654DE2D2B}"/>
              </a:ext>
            </a:extLst>
          </p:cNvPr>
          <p:cNvSpPr txBox="1"/>
          <p:nvPr/>
        </p:nvSpPr>
        <p:spPr>
          <a:xfrm>
            <a:off x="9855147" y="4323079"/>
            <a:ext cx="11993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200" dirty="0">
                <a:latin typeface="Candara Light" panose="020E0502030303020204" pitchFamily="34" charset="0"/>
              </a:rPr>
              <a:t>Fig 31. </a:t>
            </a:r>
            <a:r>
              <a:rPr lang="es-CL" sz="1200" dirty="0" err="1">
                <a:latin typeface="Candara Light" panose="020E0502030303020204" pitchFamily="34" charset="0"/>
              </a:rPr>
              <a:t>logitrack</a:t>
            </a:r>
            <a:endParaRPr lang="es-CL" sz="1200" dirty="0">
              <a:latin typeface="Candara Light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23602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85AFCC-8FF7-E2CC-4251-C51C3EF72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437" y="192873"/>
            <a:ext cx="10525125" cy="1293028"/>
          </a:xfrm>
        </p:spPr>
        <p:txBody>
          <a:bodyPr/>
          <a:lstStyle/>
          <a:p>
            <a:pPr algn="ctr"/>
            <a:r>
              <a:rPr lang="es-CL" dirty="0" err="1">
                <a:latin typeface="Candara Light" panose="020E0502030303020204" pitchFamily="34" charset="0"/>
              </a:rPr>
              <a:t>Restore</a:t>
            </a:r>
            <a:r>
              <a:rPr lang="es-CL" dirty="0">
                <a:latin typeface="Candara Light" panose="020E0502030303020204" pitchFamily="34" charset="0"/>
              </a:rPr>
              <a:t> de DB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9580BE3-3240-350B-834A-A374189707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437" y="1171575"/>
            <a:ext cx="5035024" cy="470535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FF8E0CA1-BBF7-8FE0-523B-B34ADC763D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3541" y="2196768"/>
            <a:ext cx="5220761" cy="1477131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B4BEA784-BFCE-6C42-979C-42CE9160AD20}"/>
              </a:ext>
            </a:extLst>
          </p:cNvPr>
          <p:cNvSpPr txBox="1"/>
          <p:nvPr/>
        </p:nvSpPr>
        <p:spPr>
          <a:xfrm>
            <a:off x="2751265" y="5951854"/>
            <a:ext cx="16850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200" dirty="0">
                <a:latin typeface="Candara Light" panose="020E0502030303020204" pitchFamily="34" charset="0"/>
              </a:rPr>
              <a:t>Fig 32. Restauración DB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98F5CC9-5AA7-33F5-AE80-1A7F4B776FFE}"/>
              </a:ext>
            </a:extLst>
          </p:cNvPr>
          <p:cNvSpPr txBox="1"/>
          <p:nvPr/>
        </p:nvSpPr>
        <p:spPr>
          <a:xfrm>
            <a:off x="8091382" y="3673899"/>
            <a:ext cx="15824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200" dirty="0">
                <a:latin typeface="Candara Light" panose="020E0502030303020204" pitchFamily="34" charset="0"/>
              </a:rPr>
              <a:t>Fig 33. Uso de </a:t>
            </a:r>
            <a:r>
              <a:rPr lang="es-CL" sz="1200" dirty="0" err="1">
                <a:latin typeface="Candara Light" panose="020E0502030303020204" pitchFamily="34" charset="0"/>
              </a:rPr>
              <a:t>restore</a:t>
            </a:r>
            <a:endParaRPr lang="es-CL" sz="1200" dirty="0">
              <a:latin typeface="Candara Light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8089588"/>
      </p:ext>
    </p:extLst>
  </p:cSld>
  <p:clrMapOvr>
    <a:masterClrMapping/>
  </p:clrMapOvr>
</p:sld>
</file>

<file path=ppt/theme/theme1.xml><?xml version="1.0" encoding="utf-8"?>
<a:theme xmlns:a="http://schemas.openxmlformats.org/drawingml/2006/main" name="Estela de condensación">
  <a:themeElements>
    <a:clrScheme name="Estela de condensación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Estela de condensación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tela de condensación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Estela de condensación</Template>
  <TotalTime>138</TotalTime>
  <Words>626</Words>
  <Application>Microsoft Office PowerPoint</Application>
  <PresentationFormat>Panorámica</PresentationFormat>
  <Paragraphs>76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Arial</vt:lpstr>
      <vt:lpstr>Candara Light</vt:lpstr>
      <vt:lpstr>Century Gothic</vt:lpstr>
      <vt:lpstr>Estela de condensación</vt:lpstr>
      <vt:lpstr>Laboratorio de DBII</vt:lpstr>
      <vt:lpstr>Creación Base de Datos </vt:lpstr>
      <vt:lpstr>Análisis</vt:lpstr>
      <vt:lpstr>Análisis</vt:lpstr>
      <vt:lpstr>Modelo ER</vt:lpstr>
      <vt:lpstr>Conexión a Remoto</vt:lpstr>
      <vt:lpstr>Conexión a Remoto</vt:lpstr>
      <vt:lpstr>Conexión a Remoto</vt:lpstr>
      <vt:lpstr>Conexión A remoto</vt:lpstr>
      <vt:lpstr>Conexión a Remoto</vt:lpstr>
      <vt:lpstr>Conexión a Remoto</vt:lpstr>
      <vt:lpstr>Conexión a Remoto</vt:lpstr>
      <vt:lpstr>Restore de DB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Ignacio Antonio Ampuero Chacón</dc:creator>
  <cp:lastModifiedBy>Ignacio Antonio Ampuero Chacón</cp:lastModifiedBy>
  <cp:revision>5</cp:revision>
  <dcterms:created xsi:type="dcterms:W3CDTF">2026-08-26T15:39:58Z</dcterms:created>
  <dcterms:modified xsi:type="dcterms:W3CDTF">2026-08-26T17:58:34Z</dcterms:modified>
</cp:coreProperties>
</file>